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743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8686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watsonx.ai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663440" y="1097280"/>
            <a:ext cx="71323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3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 Agent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663440" y="32461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8C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"Exploring the Power of Agentic AI with IBM Granite and LangFlow"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3977640"/>
            <a:ext cx="2011680" cy="347472"/>
          </a:xfrm>
          <a:prstGeom prst="roundRect">
            <a:avLst>
              <a:gd name="adj" fmla="val 31579"/>
            </a:avLst>
          </a:prstGeom>
          <a:solidFill>
            <a:srgbClr val="08A836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397764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903720" y="3977640"/>
            <a:ext cx="2011680" cy="347472"/>
          </a:xfrm>
          <a:prstGeom prst="roundRect">
            <a:avLst>
              <a:gd name="adj" fmla="val 31579"/>
            </a:avLst>
          </a:prstGeom>
          <a:solidFill>
            <a:srgbClr val="009D9A"/>
          </a:solidFill>
          <a:ln/>
        </p:spPr>
      </p:sp>
      <p:sp>
        <p:nvSpPr>
          <p:cNvPr id="11" name="Text 9"/>
          <p:cNvSpPr/>
          <p:nvPr/>
        </p:nvSpPr>
        <p:spPr>
          <a:xfrm>
            <a:off x="6903720" y="397764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Granite 3.2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144000" y="3977640"/>
            <a:ext cx="2011680" cy="347472"/>
          </a:xfrm>
          <a:prstGeom prst="roundRect">
            <a:avLst>
              <a:gd name="adj" fmla="val 31579"/>
            </a:avLst>
          </a:prstGeom>
          <a:solidFill>
            <a:srgbClr val="8A3FFC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0" y="397764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LangFlow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4572000"/>
            <a:ext cx="7132320" cy="0"/>
          </a:xfrm>
          <a:prstGeom prst="line">
            <a:avLst/>
          </a:prstGeom>
          <a:noFill/>
          <a:ln w="12700">
            <a:solidFill>
              <a:srgbClr val="3A5E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470916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63440" y="5047488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Ramgarh Engineering College, Jharkhand  |  B.Tech CSE (Pre-Final Year)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63440" y="5321808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aramanrajaramanraj@gmail.com  |  +91 9334955453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63440" y="589788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AICTE Internship  |  Edunet Foundation × IBM SkillsBuild  |  2025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1161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Details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5486400" cy="512064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0972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77440" y="1097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Nutrition Agent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508760"/>
            <a:ext cx="5212080" cy="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6459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377440" y="164592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/ Nutrition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057400"/>
            <a:ext cx="5212080" cy="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194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377440" y="219456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606040"/>
            <a:ext cx="5212080" cy="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7432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ID: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377440" y="27432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aramanrajaramanraj@gmail.com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154680"/>
            <a:ext cx="5212080" cy="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2918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(WhatsApp):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77440" y="32918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9334955453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703320"/>
            <a:ext cx="5212080" cy="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840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37744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Ramgarh Engineering College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4251960"/>
            <a:ext cx="5212080" cy="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3891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377440" y="438912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CSE (Pre-Final Year)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4800600"/>
            <a:ext cx="5212080" cy="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9377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377440" y="493776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github.com/AMANRAJ-Droid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0" y="914400"/>
            <a:ext cx="5394960" cy="5120640"/>
          </a:xfrm>
          <a:prstGeom prst="roundRect">
            <a:avLst>
              <a:gd name="adj" fmla="val 1786"/>
            </a:avLst>
          </a:prstGeom>
          <a:solidFill>
            <a:srgbClr val="0F62FE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0" y="10972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Project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83680" y="1645920"/>
            <a:ext cx="50292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builds a multi-agent AI Nutrition Assistant powered by IBM Granite 3.2 model via IBM watsonx.ai, orchestrated with LangFlow.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provides personalized diet planning, calorie analysis, BMI calculation, and family nutrition management with deep support for Indian cuisine and food culture.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583680" y="4343400"/>
            <a:ext cx="4846320" cy="27432"/>
          </a:xfrm>
          <a:prstGeom prst="rect">
            <a:avLst/>
          </a:prstGeom>
          <a:solidFill>
            <a:srgbClr val="3A5E8A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0" y="44805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Jharkhand, India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0" y="48463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AICTE Internship 2025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83680" y="5212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IBM watsonx.ai + Granite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37" name="Text 35"/>
          <p:cNvSpPr/>
          <p:nvPr/>
        </p:nvSpPr>
        <p:spPr>
          <a:xfrm>
            <a:off x="182880" y="6510528"/>
            <a:ext cx="1179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6161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1161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77240"/>
            <a:ext cx="109728" cy="5303520"/>
          </a:xfrm>
          <a:prstGeom prst="rect">
            <a:avLst/>
          </a:prstGeom>
          <a:solidFill>
            <a:srgbClr val="08A83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5577840" cy="2377440"/>
          </a:xfrm>
          <a:prstGeom prst="roundRect">
            <a:avLst>
              <a:gd name="adj" fmla="val 3846"/>
            </a:avLst>
          </a:prstGeom>
          <a:solidFill>
            <a:srgbClr val="FEF3C7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 The Challenge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5212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in India suffer from diet-related illness — diabetes, obesity, malnutrition — yet lack personalized, affordable nutritional guidance. Generic apps ignore Indian regional cuisines, languages, and cultural dietary restrictions entirely.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347472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0F62FE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36118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101M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74320" y="434340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Diabetics in India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diet management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347472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0F62FE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36118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246120" y="434340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under 5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stunted by malnutrition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347472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0F62FE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36118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217920" y="434340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Obese adults lacking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guidance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89720" y="347472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9189720" y="36118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1:1.27M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189720" y="434340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Dietitian to population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in India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35040" y="914400"/>
            <a:ext cx="5943600" cy="2377440"/>
          </a:xfrm>
          <a:prstGeom prst="roundRect">
            <a:avLst>
              <a:gd name="adj" fmla="val 3846"/>
            </a:avLst>
          </a:prstGeom>
          <a:solidFill>
            <a:srgbClr val="F0F4FF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100584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The Objective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0" y="1481328"/>
            <a:ext cx="5577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Personalized diet plans based on health conditions &amp; cultural preferences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1828800"/>
            <a:ext cx="5577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Real-time calorie analysis and food nutrition data via RAG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17920" y="2176272"/>
            <a:ext cx="5577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Family-level nutrition management for all age groups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17920" y="2523744"/>
            <a:ext cx="5577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Disease-specific guidance: diabetes, thyroid, PCOS, heart health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2871216"/>
            <a:ext cx="5577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Deep support for Indian regional cuisines and dietary traditions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29" name="Text 27"/>
          <p:cNvSpPr/>
          <p:nvPr/>
        </p:nvSpPr>
        <p:spPr>
          <a:xfrm>
            <a:off x="182880" y="6510528"/>
            <a:ext cx="1179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1161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868680"/>
            <a:ext cx="1161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AI Nutrition System built on LangFlow + IBM watsonx.ai using Granite 3.2 8B Instruct, with RAG-based nutritional data retrieval for accurate, personalized guidance.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2743200" cy="3474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508760"/>
            <a:ext cx="2743200" cy="50292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5087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21031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Agent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788920"/>
            <a:ext cx="25603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nutritional data from USDA &amp; WHO via RAG pipeline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0" y="1508760"/>
            <a:ext cx="2743200" cy="3474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0" y="1508760"/>
            <a:ext cx="2743200" cy="502920"/>
          </a:xfrm>
          <a:prstGeom prst="rect">
            <a:avLst/>
          </a:prstGeom>
          <a:solidFill>
            <a:srgbClr val="08A836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15087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  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00400" y="21031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Agent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91840" y="2788920"/>
            <a:ext cx="25603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personalized weekly meal plans based on health profile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26480" y="1508760"/>
            <a:ext cx="2743200" cy="3474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126480" y="1508760"/>
            <a:ext cx="2743200" cy="502920"/>
          </a:xfrm>
          <a:prstGeom prst="rect">
            <a:avLst/>
          </a:prstGeom>
          <a:solidFill>
            <a:srgbClr val="009D9A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15087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26480" y="21031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Agent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2788920"/>
            <a:ext cx="25603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disease-specific diets for diabetes, thyroid, PCOS, heart health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52560" y="1508760"/>
            <a:ext cx="2743200" cy="3474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52560" y="1508760"/>
            <a:ext cx="2743200" cy="502920"/>
          </a:xfrm>
          <a:prstGeom prst="rect">
            <a:avLst/>
          </a:prstGeom>
          <a:solidFill>
            <a:srgbClr val="8A3FFC"/>
          </a:solidFill>
          <a:ln/>
        </p:spPr>
      </p:sp>
      <p:sp>
        <p:nvSpPr>
          <p:cNvPr id="23" name="Text 21"/>
          <p:cNvSpPr/>
          <p:nvPr/>
        </p:nvSpPr>
        <p:spPr>
          <a:xfrm>
            <a:off x="9052560" y="15087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052560" y="21031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Log &amp;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Agent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44000" y="2788920"/>
            <a:ext cx="25603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logged meals and delivers instant calorie &amp; nutrition feedback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74320" y="5166360"/>
            <a:ext cx="11612880" cy="1097280"/>
          </a:xfrm>
          <a:prstGeom prst="roundRect">
            <a:avLst>
              <a:gd name="adj" fmla="val 8333"/>
            </a:avLst>
          </a:prstGeom>
          <a:solidFill>
            <a:srgbClr val="0F62FE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5285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All agents share a centralized RAG knowledge base powered by IBM watsonx embeddings — ensuring every recommendation is grounded in real, verified nutritional data from USDA, WHO, and Indian food composition tables.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29" name="Text 27"/>
          <p:cNvSpPr/>
          <p:nvPr/>
        </p:nvSpPr>
        <p:spPr>
          <a:xfrm>
            <a:off x="182880" y="6510528"/>
            <a:ext cx="1179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6161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1161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77240"/>
            <a:ext cx="109728" cy="530352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960120"/>
            <a:ext cx="3657600" cy="502920"/>
          </a:xfrm>
          <a:prstGeom prst="roundRect">
            <a:avLst>
              <a:gd name="adj" fmla="val 21818"/>
            </a:avLst>
          </a:prstGeom>
          <a:solidFill>
            <a:srgbClr val="8A3FFC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1435608"/>
            <a:ext cx="3657600" cy="54864"/>
          </a:xfrm>
          <a:prstGeom prst="rect">
            <a:avLst/>
          </a:prstGeom>
          <a:solidFill>
            <a:srgbClr val="8A3FFC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9601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 LangFlow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554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A3F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v1.3+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19202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multi-agent workflow orchestration platform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96012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0" y="960120"/>
            <a:ext cx="3657600" cy="502920"/>
          </a:xfrm>
          <a:prstGeom prst="roundRect">
            <a:avLst>
              <a:gd name="adj" fmla="val 21818"/>
            </a:avLst>
          </a:prstGeom>
          <a:solidFill>
            <a:srgbClr val="0F62FE"/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1435608"/>
            <a:ext cx="3657600" cy="54864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15" name="Text 13"/>
          <p:cNvSpPr/>
          <p:nvPr/>
        </p:nvSpPr>
        <p:spPr>
          <a:xfrm>
            <a:off x="4297680" y="9601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IBM Granite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97680" y="1554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6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granite-3-2-8b-instruct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434840" y="19202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LLM for reasoning, personalization &amp; summarization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229600" y="96012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0" y="960120"/>
            <a:ext cx="3657600" cy="502920"/>
          </a:xfrm>
          <a:prstGeom prst="roundRect">
            <a:avLst>
              <a:gd name="adj" fmla="val 21818"/>
            </a:avLst>
          </a:prstGeom>
          <a:solidFill>
            <a:srgbClr val="009D9A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0" y="1435608"/>
            <a:ext cx="3657600" cy="54864"/>
          </a:xfrm>
          <a:prstGeom prst="rect">
            <a:avLst/>
          </a:prstGeom>
          <a:solidFill>
            <a:srgbClr val="009D9A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9601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IBM Cloud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0" y="1554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9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us-south region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366760" y="19202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Secure, scalable infrastructure for model deployment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52044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</p:sp>
      <p:sp>
        <p:nvSpPr>
          <p:cNvPr id="25" name="Shape 23"/>
          <p:cNvSpPr/>
          <p:nvPr/>
        </p:nvSpPr>
        <p:spPr>
          <a:xfrm>
            <a:off x="365760" y="3520440"/>
            <a:ext cx="3657600" cy="502920"/>
          </a:xfrm>
          <a:prstGeom prst="roundRect">
            <a:avLst>
              <a:gd name="adj" fmla="val 21818"/>
            </a:avLst>
          </a:prstGeom>
          <a:solidFill>
            <a:srgbClr val="08A83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5760" y="3995928"/>
            <a:ext cx="3657600" cy="54864"/>
          </a:xfrm>
          <a:prstGeom prst="rect">
            <a:avLst/>
          </a:prstGeom>
          <a:solidFill>
            <a:srgbClr val="08A836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35204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 RAG Pipeline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" y="4114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8A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/ Chroma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448056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nutritional data retrieval from knowledge base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97680" y="352044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</p:sp>
      <p:sp>
        <p:nvSpPr>
          <p:cNvPr id="31" name="Shape 29"/>
          <p:cNvSpPr/>
          <p:nvPr/>
        </p:nvSpPr>
        <p:spPr>
          <a:xfrm>
            <a:off x="4297680" y="3520440"/>
            <a:ext cx="3657600" cy="502920"/>
          </a:xfrm>
          <a:prstGeom prst="roundRect">
            <a:avLst>
              <a:gd name="adj" fmla="val 21818"/>
            </a:avLst>
          </a:prstGeom>
          <a:solidFill>
            <a:srgbClr val="8A3FFC"/>
          </a:solidFill>
          <a:ln/>
        </p:spPr>
      </p:sp>
      <p:sp>
        <p:nvSpPr>
          <p:cNvPr id="32" name="Shape 30"/>
          <p:cNvSpPr/>
          <p:nvPr/>
        </p:nvSpPr>
        <p:spPr>
          <a:xfrm>
            <a:off x="4297680" y="3995928"/>
            <a:ext cx="3657600" cy="54864"/>
          </a:xfrm>
          <a:prstGeom prst="rect">
            <a:avLst/>
          </a:prstGeom>
          <a:solidFill>
            <a:srgbClr val="8A3FFC"/>
          </a:solidFill>
          <a:ln/>
        </p:spPr>
      </p:sp>
      <p:sp>
        <p:nvSpPr>
          <p:cNvPr id="33" name="Text 31"/>
          <p:cNvSpPr/>
          <p:nvPr/>
        </p:nvSpPr>
        <p:spPr>
          <a:xfrm>
            <a:off x="4297680" y="35204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IBM watsonx.ai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297680" y="4114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A3F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Platform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434840" y="448056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deployment, embeddings &amp; AI governance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29600" y="352044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</p:sp>
      <p:sp>
        <p:nvSpPr>
          <p:cNvPr id="37" name="Shape 35"/>
          <p:cNvSpPr/>
          <p:nvPr/>
        </p:nvSpPr>
        <p:spPr>
          <a:xfrm>
            <a:off x="8229600" y="3520440"/>
            <a:ext cx="3657600" cy="502920"/>
          </a:xfrm>
          <a:prstGeom prst="roundRect">
            <a:avLst>
              <a:gd name="adj" fmla="val 21818"/>
            </a:avLst>
          </a:prstGeom>
          <a:solidFill>
            <a:srgbClr val="B45309"/>
          </a:solidFill>
          <a:ln/>
        </p:spPr>
      </p:sp>
      <p:sp>
        <p:nvSpPr>
          <p:cNvPr id="38" name="Shape 36"/>
          <p:cNvSpPr/>
          <p:nvPr/>
        </p:nvSpPr>
        <p:spPr>
          <a:xfrm>
            <a:off x="8229600" y="3995928"/>
            <a:ext cx="3657600" cy="5486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35204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Vector Database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229600" y="4114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/ ChromaDB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366760" y="448056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nutritional embeddings for semantic search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182880" y="6510528"/>
            <a:ext cx="1179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8A3FF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1161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LangFlow Components Used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5669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384048" y="11430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8A3FFC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1430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3F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Chat Input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6459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user queries about nutrition, BMI, diet plans, and family health. Passes user message to the Agent orchestrator.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63640" y="1005840"/>
            <a:ext cx="5669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373368" y="11430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8A3FFC"/>
          </a:solidFill>
          <a:ln/>
        </p:spPr>
      </p:sp>
      <p:sp>
        <p:nvSpPr>
          <p:cNvPr id="12" name="Text 10"/>
          <p:cNvSpPr/>
          <p:nvPr/>
        </p:nvSpPr>
        <p:spPr>
          <a:xfrm>
            <a:off x="6373368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03720" y="11430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3F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IBM watsonx AI Agent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0" y="16459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agent node powered by IBM Granite 3.2 8B. Orchestrates sub-agents, processes context, and generates personalized nutrition guidance.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834640"/>
            <a:ext cx="5669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" y="29718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8A3FFC"/>
          </a:solidFill>
          <a:ln/>
        </p:spPr>
      </p:sp>
      <p:sp>
        <p:nvSpPr>
          <p:cNvPr id="17" name="Text 15"/>
          <p:cNvSpPr/>
          <p:nvPr/>
        </p:nvSpPr>
        <p:spPr>
          <a:xfrm>
            <a:off x="384048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29718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3F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  Granite Model Node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" y="34747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granite-3-2-8b-instruct. Configured with temperature 0.7, max 1024 tokens, repetition penalty 1.1 for accurate, non-repetitive responses.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63640" y="2834640"/>
            <a:ext cx="5669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6373368" y="29718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8A3FFC"/>
          </a:solidFill>
          <a:ln/>
        </p:spPr>
      </p:sp>
      <p:sp>
        <p:nvSpPr>
          <p:cNvPr id="22" name="Text 20"/>
          <p:cNvSpPr/>
          <p:nvPr/>
        </p:nvSpPr>
        <p:spPr>
          <a:xfrm>
            <a:off x="6373368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03720" y="29718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3F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Chat Output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0" y="34747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AI-generated responses: diet plans, calorie analysis, meal suggestions, and health recommendations in the chat interface.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4663440"/>
            <a:ext cx="5669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384048" y="4800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8A3FFC"/>
          </a:solidFill>
          <a:ln/>
        </p:spPr>
      </p:sp>
      <p:sp>
        <p:nvSpPr>
          <p:cNvPr id="27" name="Text 25"/>
          <p:cNvSpPr/>
          <p:nvPr/>
        </p:nvSpPr>
        <p:spPr>
          <a:xfrm>
            <a:off x="384048" y="4800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14400" y="48006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3F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📂  File Component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1480" y="53035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nutrition datasets (USDA food composition CSV, WHO guidelines PDF, Indian food table) into the RAG knowledge base.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63640" y="4663440"/>
            <a:ext cx="5669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373368" y="4800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8A3FFC"/>
          </a:solidFill>
          <a:ln/>
        </p:spPr>
      </p:sp>
      <p:sp>
        <p:nvSpPr>
          <p:cNvPr id="32" name="Text 30"/>
          <p:cNvSpPr/>
          <p:nvPr/>
        </p:nvSpPr>
        <p:spPr>
          <a:xfrm>
            <a:off x="6373368" y="4800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903720" y="48006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3F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System Prompt (AGENT_INSTRUCTIONS)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0" y="53035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Customizable prompt containing tone, Indian food preferences, safety rules, disease specializations, and family profile context.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8A3FFC"/>
          </a:solidFill>
          <a:ln/>
        </p:spPr>
      </p:sp>
      <p:sp>
        <p:nvSpPr>
          <p:cNvPr id="36" name="Text 34"/>
          <p:cNvSpPr/>
          <p:nvPr/>
        </p:nvSpPr>
        <p:spPr>
          <a:xfrm>
            <a:off x="182880" y="6510528"/>
            <a:ext cx="1179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1161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LangFlow Workflow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0" y="100584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1A1A2E"/>
          </a:solidFill>
          <a:ln/>
        </p:spPr>
      </p:sp>
      <p:sp>
        <p:nvSpPr>
          <p:cNvPr id="5" name="Text 3"/>
          <p:cNvSpPr/>
          <p:nvPr/>
        </p:nvSpPr>
        <p:spPr>
          <a:xfrm>
            <a:off x="3200400" y="10058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Granite 3.2 8B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2560320"/>
            <a:ext cx="1828800" cy="777240"/>
          </a:xfrm>
          <a:prstGeom prst="roundRect">
            <a:avLst>
              <a:gd name="adj" fmla="val 11765"/>
            </a:avLst>
          </a:prstGeom>
          <a:solidFill>
            <a:srgbClr val="009D9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2560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Chat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3840480"/>
            <a:ext cx="1828800" cy="777240"/>
          </a:xfrm>
          <a:prstGeom prst="roundRect">
            <a:avLst>
              <a:gd name="adj" fmla="val 11765"/>
            </a:avLst>
          </a:prstGeom>
          <a:solidFill>
            <a:srgbClr val="8A3FFC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84048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 Family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5760" y="1280160"/>
            <a:ext cx="1828800" cy="777240"/>
          </a:xfrm>
          <a:prstGeom prst="roundRect">
            <a:avLst>
              <a:gd name="adj" fmla="val 11765"/>
            </a:avLst>
          </a:prstGeom>
          <a:solidFill>
            <a:srgbClr val="08A836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28016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System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5120640"/>
            <a:ext cx="1828800" cy="777240"/>
          </a:xfrm>
          <a:prstGeom prst="roundRect">
            <a:avLst>
              <a:gd name="adj" fmla="val 11765"/>
            </a:avLst>
          </a:prstGeom>
          <a:solidFill>
            <a:srgbClr val="8A3FFC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512064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📂 Knowledge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0" y="2926080"/>
            <a:ext cx="2194560" cy="1371600"/>
          </a:xfrm>
          <a:prstGeom prst="roundRect">
            <a:avLst>
              <a:gd name="adj" fmla="val 6667"/>
            </a:avLst>
          </a:prstGeom>
          <a:solidFill>
            <a:srgbClr val="0F62FE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292608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Nutrition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(Orchestrator)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0" y="2194560"/>
            <a:ext cx="1828800" cy="777240"/>
          </a:xfrm>
          <a:prstGeom prst="roundRect">
            <a:avLst>
              <a:gd name="adj" fmla="val 11765"/>
            </a:avLst>
          </a:prstGeom>
          <a:solidFill>
            <a:srgbClr val="0F62FE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219456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Knowledge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0" y="3246120"/>
            <a:ext cx="1828800" cy="777240"/>
          </a:xfrm>
          <a:prstGeom prst="roundRect">
            <a:avLst>
              <a:gd name="adj" fmla="val 11765"/>
            </a:avLst>
          </a:prstGeom>
          <a:solidFill>
            <a:srgbClr val="08A836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32461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 Diet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0" y="4297680"/>
            <a:ext cx="1828800" cy="777240"/>
          </a:xfrm>
          <a:prstGeom prst="roundRect">
            <a:avLst>
              <a:gd name="adj" fmla="val 11765"/>
            </a:avLst>
          </a:prstGeom>
          <a:solidFill>
            <a:srgbClr val="009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429768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Health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418320" y="292608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08A836"/>
          </a:solidFill>
          <a:ln/>
        </p:spPr>
      </p:sp>
      <p:sp>
        <p:nvSpPr>
          <p:cNvPr id="23" name="Text 21"/>
          <p:cNvSpPr/>
          <p:nvPr/>
        </p:nvSpPr>
        <p:spPr>
          <a:xfrm>
            <a:off x="9418320" y="292608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Chat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(NutriBot 🥗)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12848" y="2944368"/>
            <a:ext cx="987552" cy="301752"/>
          </a:xfrm>
          <a:prstGeom prst="line">
            <a:avLst/>
          </a:prstGeom>
          <a:noFill/>
          <a:ln w="15240">
            <a:solidFill>
              <a:srgbClr val="4444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12848" y="4224528"/>
            <a:ext cx="987552" cy="-612648"/>
          </a:xfrm>
          <a:prstGeom prst="line">
            <a:avLst/>
          </a:prstGeom>
          <a:noFill/>
          <a:ln w="15240">
            <a:solidFill>
              <a:srgbClr val="4444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12848" y="1664208"/>
            <a:ext cx="987552" cy="1426464"/>
          </a:xfrm>
          <a:prstGeom prst="line">
            <a:avLst/>
          </a:prstGeom>
          <a:noFill/>
          <a:ln w="15240">
            <a:solidFill>
              <a:srgbClr val="4444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12848" y="5504688"/>
            <a:ext cx="987552" cy="-1938528"/>
          </a:xfrm>
          <a:prstGeom prst="line">
            <a:avLst/>
          </a:prstGeom>
          <a:noFill/>
          <a:ln w="15240">
            <a:solidFill>
              <a:srgbClr val="4444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13248" y="3364992"/>
            <a:ext cx="987552" cy="-786384"/>
          </a:xfrm>
          <a:prstGeom prst="line">
            <a:avLst/>
          </a:prstGeom>
          <a:noFill/>
          <a:ln w="15240">
            <a:solidFill>
              <a:srgbClr val="4444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13248" y="3566160"/>
            <a:ext cx="987552" cy="64008"/>
          </a:xfrm>
          <a:prstGeom prst="line">
            <a:avLst/>
          </a:prstGeom>
          <a:noFill/>
          <a:ln w="15240">
            <a:solidFill>
              <a:srgbClr val="4444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13248" y="3749040"/>
            <a:ext cx="987552" cy="932688"/>
          </a:xfrm>
          <a:prstGeom prst="line">
            <a:avLst/>
          </a:prstGeom>
          <a:noFill/>
          <a:ln w="15240">
            <a:solidFill>
              <a:srgbClr val="4444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47888" y="3200400"/>
            <a:ext cx="1170432" cy="182880"/>
          </a:xfrm>
          <a:prstGeom prst="line">
            <a:avLst/>
          </a:prstGeom>
          <a:noFill/>
          <a:ln w="15240">
            <a:solidFill>
              <a:srgbClr val="4444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Import app.json into LangFlow to load this complete flow automatically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6161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1161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Blueprint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6858000" cy="1280160"/>
          </a:xfrm>
          <a:prstGeom prst="roundRect">
            <a:avLst>
              <a:gd name="adj" fmla="val 7143"/>
            </a:avLst>
          </a:prstGeom>
          <a:solidFill>
            <a:srgbClr val="009D9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43000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User Interface Layer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LangFlow Chat UI  |  Web Browser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2267712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↕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14600"/>
            <a:ext cx="6858000" cy="1280160"/>
          </a:xfrm>
          <a:prstGeom prst="roundRect">
            <a:avLst>
              <a:gd name="adj" fmla="val 7143"/>
            </a:avLst>
          </a:prstGeom>
          <a:solidFill>
            <a:srgbClr val="0F62FE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51760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Agent Orchestration Layer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13639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LangFlow Multi-Agent Framework  |  IBM watsonx Agent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3776472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↕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65760" y="4023360"/>
            <a:ext cx="6858000" cy="1280160"/>
          </a:xfrm>
          <a:prstGeom prst="roundRect">
            <a:avLst>
              <a:gd name="adj" fmla="val 7143"/>
            </a:avLst>
          </a:prstGeom>
          <a:solidFill>
            <a:srgbClr val="8A3FFC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160520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AI Model Layer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64515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Granite 3.2 8B Instruct  |  IBM watsonx.ai Platform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5760" y="5285232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↕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65760" y="5440680"/>
            <a:ext cx="6858000" cy="1280160"/>
          </a:xfrm>
          <a:prstGeom prst="roundRect">
            <a:avLst>
              <a:gd name="adj" fmla="val 7143"/>
            </a:avLst>
          </a:prstGeom>
          <a:solidFill>
            <a:srgbClr val="08A83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577840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 Data &amp; Knowledge Layer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06247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Vector DB  |  USDA + WHO + Indian Food Tables  |  IBM Cloud Storage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498080" y="1005840"/>
            <a:ext cx="4389120" cy="53949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0" y="11430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Principles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80960" y="164592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Security: API keys stored securely in environment variables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680960" y="230428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Scalability: IBM Cloud handles elastic workload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680960" y="2962656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Accuracy: RAG ensures real data, not hallucinations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680960" y="3621024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🇮🇳  Localization: Indian food culture built into agent prompt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680960" y="4279392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  Multi-user: Family profile support per session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680960" y="493776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Speed: Granite 3.2 8B optimized for low-latency inference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680960" y="559612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Modularity: Each agent can be updated independently in LangFlow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30" name="Text 28"/>
          <p:cNvSpPr/>
          <p:nvPr/>
        </p:nvSpPr>
        <p:spPr>
          <a:xfrm>
            <a:off x="182880" y="6510528"/>
            <a:ext cx="1179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A1A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1161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of Agentic AI in the Solution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enables the Nutrition Agent to function as an autonomous, goal-driven system — not just a chatbot. It autonomously decomposes a user's nutrition query into sub-tasks, delegates them to specialized agents, and synthesizes a coherent, personalized response.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20040" y="1508760"/>
            <a:ext cx="2697480" cy="4206240"/>
          </a:xfrm>
          <a:prstGeom prst="roundRect">
            <a:avLst>
              <a:gd name="adj" fmla="val 4068"/>
            </a:avLst>
          </a:prstGeom>
          <a:solidFill>
            <a:srgbClr val="111122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1691640"/>
            <a:ext cx="1051560" cy="1051560"/>
          </a:xfrm>
          <a:prstGeom prst="roundRect">
            <a:avLst>
              <a:gd name="adj" fmla="val 10435"/>
            </a:avLst>
          </a:prstGeom>
          <a:solidFill>
            <a:srgbClr val="0F62FE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69164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20040" y="28803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3611880"/>
            <a:ext cx="2514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breaks down complex queries like "plan a diabetic diet for my 55-year-old father" into nutrition data retrieval, meal planning, and health advisory sub-tasks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1508760"/>
            <a:ext cx="2697480" cy="4206240"/>
          </a:xfrm>
          <a:prstGeom prst="roundRect">
            <a:avLst>
              <a:gd name="adj" fmla="val 4068"/>
            </a:avLst>
          </a:prstGeom>
          <a:solidFill>
            <a:srgbClr val="111122"/>
          </a:solidFill>
          <a:ln/>
        </p:spPr>
      </p:sp>
      <p:sp>
        <p:nvSpPr>
          <p:cNvPr id="11" name="Shape 9"/>
          <p:cNvSpPr/>
          <p:nvPr/>
        </p:nvSpPr>
        <p:spPr>
          <a:xfrm>
            <a:off x="4069080" y="1691640"/>
            <a:ext cx="1051560" cy="1051560"/>
          </a:xfrm>
          <a:prstGeom prst="roundRect">
            <a:avLst>
              <a:gd name="adj" fmla="val 10435"/>
            </a:avLst>
          </a:prstGeom>
          <a:solidFill>
            <a:srgbClr val="08A836"/>
          </a:solidFill>
          <a:ln/>
        </p:spPr>
      </p:sp>
      <p:sp>
        <p:nvSpPr>
          <p:cNvPr id="12" name="Text 10"/>
          <p:cNvSpPr/>
          <p:nvPr/>
        </p:nvSpPr>
        <p:spPr>
          <a:xfrm>
            <a:off x="4069080" y="169164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246120" y="28803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37560" y="3611880"/>
            <a:ext cx="2514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user profiles across turns — remembers age, health conditions, and food preferences throughout the conversation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72200" y="1508760"/>
            <a:ext cx="2697480" cy="4206240"/>
          </a:xfrm>
          <a:prstGeom prst="roundRect">
            <a:avLst>
              <a:gd name="adj" fmla="val 4068"/>
            </a:avLst>
          </a:prstGeom>
          <a:solidFill>
            <a:srgbClr val="111122"/>
          </a:solidFill>
          <a:ln/>
        </p:spPr>
      </p:sp>
      <p:sp>
        <p:nvSpPr>
          <p:cNvPr id="16" name="Shape 14"/>
          <p:cNvSpPr/>
          <p:nvPr/>
        </p:nvSpPr>
        <p:spPr>
          <a:xfrm>
            <a:off x="6995160" y="1691640"/>
            <a:ext cx="1051560" cy="1051560"/>
          </a:xfrm>
          <a:prstGeom prst="roundRect">
            <a:avLst>
              <a:gd name="adj" fmla="val 10435"/>
            </a:avLst>
          </a:prstGeom>
          <a:solidFill>
            <a:srgbClr val="009D9A"/>
          </a:solidFill>
          <a:ln/>
        </p:spPr>
      </p:sp>
      <p:sp>
        <p:nvSpPr>
          <p:cNvPr id="17" name="Text 15"/>
          <p:cNvSpPr/>
          <p:nvPr/>
        </p:nvSpPr>
        <p:spPr>
          <a:xfrm>
            <a:off x="6995160" y="169164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172200" y="28803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611880"/>
            <a:ext cx="2514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agents collaborate: Knowledge Agent feeds data to Diet Agent, which the Health Agent cross-checks for disease safety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098280" y="1508760"/>
            <a:ext cx="2697480" cy="4206240"/>
          </a:xfrm>
          <a:prstGeom prst="roundRect">
            <a:avLst>
              <a:gd name="adj" fmla="val 4068"/>
            </a:avLst>
          </a:prstGeom>
          <a:solidFill>
            <a:srgbClr val="111122"/>
          </a:solidFill>
          <a:ln/>
        </p:spPr>
      </p:sp>
      <p:sp>
        <p:nvSpPr>
          <p:cNvPr id="21" name="Shape 19"/>
          <p:cNvSpPr/>
          <p:nvPr/>
        </p:nvSpPr>
        <p:spPr>
          <a:xfrm>
            <a:off x="9921240" y="1691640"/>
            <a:ext cx="1051560" cy="1051560"/>
          </a:xfrm>
          <a:prstGeom prst="roundRect">
            <a:avLst>
              <a:gd name="adj" fmla="val 10435"/>
            </a:avLst>
          </a:prstGeom>
          <a:solidFill>
            <a:srgbClr val="8A3FFC"/>
          </a:solidFill>
          <a:ln/>
        </p:spPr>
      </p:sp>
      <p:sp>
        <p:nvSpPr>
          <p:cNvPr id="22" name="Text 20"/>
          <p:cNvSpPr/>
          <p:nvPr/>
        </p:nvSpPr>
        <p:spPr>
          <a:xfrm>
            <a:off x="9921240" y="169164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098280" y="28803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89720" y="3611880"/>
            <a:ext cx="2514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Continuously updates recommendations as users log new meals, report health changes, or add family members to their profile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74320" y="5989320"/>
            <a:ext cx="1161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6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IBM Granite 3.2 8B Instruct via IBM watsonx.ai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6161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1161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Usage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77240"/>
            <a:ext cx="109728" cy="5303520"/>
          </a:xfrm>
          <a:prstGeom prst="rect">
            <a:avLst/>
          </a:prstGeom>
          <a:solidFill>
            <a:srgbClr val="009D9A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F4F4F4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PASTE SCREENSHOT HERE</a:t>
            </a:r>
            <a:endParaRPr lang="en-US" sz="1400" dirty="0"/>
          </a:p>
          <a:p>
            <a:pPr algn="ctr" indent="0" marL="0">
              <a:lnSpc>
                <a:spcPct val="160000"/>
              </a:lnSpc>
              <a:buNone/>
            </a:pPr>
            <a:endParaRPr lang="en-US" sz="14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Prompt</a:t>
            </a:r>
            <a:endParaRPr lang="en-US" sz="14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(LangFlow Token Count)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960120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F4F4F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960120"/>
            <a:ext cx="5486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PASTE SCREENSHOT HERE</a:t>
            </a:r>
            <a:endParaRPr lang="en-US" sz="1400" dirty="0"/>
          </a:p>
          <a:p>
            <a:pPr algn="ctr" indent="0" marL="0">
              <a:lnSpc>
                <a:spcPct val="160000"/>
              </a:lnSpc>
              <a:buNone/>
            </a:pPr>
            <a:endParaRPr lang="en-US" sz="14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Prompt</a:t>
            </a:r>
            <a:endParaRPr lang="en-US" sz="14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(LangFlow Token Count)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5257800"/>
            <a:ext cx="11521440" cy="1097280"/>
          </a:xfrm>
          <a:prstGeom prst="roundRect">
            <a:avLst>
              <a:gd name="adj" fmla="val 8333"/>
            </a:avLst>
          </a:prstGeom>
          <a:solidFill>
            <a:srgbClr val="0F62F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54864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~11,761 tokens used in this flow  |  Model: ibm/granite-3-2-8b-instruct  |  Max tokens per call: 1024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ℹ️  Run the flow once in LangFlow, then replace the boxes above with before/after token usage screenshots from the LangFlow logs panel.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08A83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1161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&amp; Uniqueness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5760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62F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118872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Intelligence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164592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specialized agents collaborate — rather than one monolithic chatbot — for accurate, context-aware guidance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355080" y="1005840"/>
            <a:ext cx="5760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492240" y="11887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09D9A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269480" y="118872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RAG-Based Accuracy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269480" y="164592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nutritional data from USDA and WHO is retrieved first, then generation happens — minimizing hallucinations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2834640"/>
            <a:ext cx="5760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0175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8A836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🇮🇳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301752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A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Food Specialization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34440" y="347472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support for 50+ regional Indian cuisines, religious dietary restrictions, and traditional Indian superfoods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355080" y="2834640"/>
            <a:ext cx="5760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6492240" y="30175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8A3FFC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269480" y="301752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3F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Profile Management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269480" y="347472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session supports multiple family members, each with individual health conditions and nutritional targets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4663440"/>
            <a:ext cx="5760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48463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8A3FF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34440" y="484632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3F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Customizable AGENT_INSTRUCTIONS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34440" y="530352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can change tone, diet specialization, safety rules, and cultural preferences without touching LangFlow nodes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55080" y="4663440"/>
            <a:ext cx="5760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492240" y="48463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9D5700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269480" y="484632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5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Healthcare Focus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269480" y="530352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beyond meal planning to provide evidence-based dietary guidance for chronic disease management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08A836"/>
          </a:solidFill>
          <a:ln/>
        </p:spPr>
      </p:sp>
      <p:sp>
        <p:nvSpPr>
          <p:cNvPr id="36" name="Text 34"/>
          <p:cNvSpPr/>
          <p:nvPr/>
        </p:nvSpPr>
        <p:spPr>
          <a:xfrm>
            <a:off x="182880" y="6510528"/>
            <a:ext cx="1179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6161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1161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1097280"/>
            <a:ext cx="10332720" cy="1280160"/>
          </a:xfrm>
          <a:prstGeom prst="roundRect">
            <a:avLst>
              <a:gd name="adj" fmla="val 8571"/>
            </a:avLst>
          </a:prstGeom>
          <a:solidFill>
            <a:srgbClr val="111111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097280"/>
            <a:ext cx="10332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6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github.com/AMANRAJ-Droid/nutrition-agent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2606040"/>
            <a:ext cx="10332720" cy="3108960"/>
          </a:xfrm>
          <a:prstGeom prst="roundRect">
            <a:avLst>
              <a:gd name="adj" fmla="val 3529"/>
            </a:avLst>
          </a:prstGeom>
          <a:solidFill>
            <a:srgbClr val="111111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2788920"/>
            <a:ext cx="9784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Contents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88720" y="333756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08A836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3337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00200" y="3337560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app.json  —  LangFlow exported flow — import this directly into LangFlow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88720" y="38862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009D9A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3886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00200" y="3886200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NutritionAgent_ProblemStatement.pdf  —  Complete problem statement document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188720" y="443484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8A3FFC"/>
          </a:solidFill>
          <a:ln/>
        </p:spPr>
      </p:sp>
      <p:sp>
        <p:nvSpPr>
          <p:cNvPr id="16" name="Text 14"/>
          <p:cNvSpPr/>
          <p:nvPr/>
        </p:nvSpPr>
        <p:spPr>
          <a:xfrm>
            <a:off x="1188720" y="4434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00200" y="4434840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NutritionAgent_Presentation.pptx  —  This submission presentation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188720" y="498348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1188720" y="4983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00200" y="4983480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  —  Setup instructions, tech stack, and project overview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14400" y="58978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A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repository  ✓  |  README enabled  ✓  |  All 4 required files uploaded  ✓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009D9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1161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77240"/>
            <a:ext cx="109728" cy="5303520"/>
          </a:xfrm>
          <a:prstGeom prst="rect">
            <a:avLst/>
          </a:prstGeom>
          <a:solidFill>
            <a:srgbClr val="009D9A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05840"/>
            <a:ext cx="11521440" cy="1005840"/>
          </a:xfrm>
          <a:prstGeom prst="roundRect">
            <a:avLst>
              <a:gd name="adj" fmla="val 7273"/>
            </a:avLst>
          </a:prstGeom>
          <a:solidFill>
            <a:srgbClr val="F4F4F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777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⌚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78992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Integration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48132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with smartwatches and fitness trackers to collect real-time activity data. Enable the agent to automatically adjust calorie targets based on steps, heart rate, and sleep patterns.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5760" y="2121408"/>
            <a:ext cx="11521440" cy="1005840"/>
          </a:xfrm>
          <a:prstGeom prst="roundRect">
            <a:avLst>
              <a:gd name="adj" fmla="val 7273"/>
            </a:avLst>
          </a:prstGeom>
          <a:solidFill>
            <a:srgbClr val="E8F8F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21408"/>
            <a:ext cx="777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🎙️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21945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Assistant &amp; Multilingual Support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80160" y="2596896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voice input in 10+ Indian languages (Hindi, Tamil, Telugu, Bengali, Marathi). Users can speak naturally to get nutrition guidance in their mother tongue.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3236976"/>
            <a:ext cx="11521440" cy="1005840"/>
          </a:xfrm>
          <a:prstGeom prst="roundRect">
            <a:avLst>
              <a:gd name="adj" fmla="val 7273"/>
            </a:avLst>
          </a:prstGeom>
          <a:solidFill>
            <a:srgbClr val="F4F4F4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36976"/>
            <a:ext cx="777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280160" y="331012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Image-Based Meal Logging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80160" y="3712464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your thali and get instant calorie counts. Computer vision model identifies Indian dishes and calculates nutritional values from the image automatically.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4352544"/>
            <a:ext cx="11521440" cy="1005840"/>
          </a:xfrm>
          <a:prstGeom prst="roundRect">
            <a:avLst>
              <a:gd name="adj" fmla="val 7273"/>
            </a:avLst>
          </a:prstGeom>
          <a:solidFill>
            <a:srgbClr val="E8F8F5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352544"/>
            <a:ext cx="777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280160" y="4425696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EHR Integration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4828032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AI-generated diet plans directly with doctors and registered dietitians through HL7 FHIR integration with hospital Electronic Health Record systems.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760" y="5468112"/>
            <a:ext cx="11521440" cy="1005840"/>
          </a:xfrm>
          <a:prstGeom prst="roundRect">
            <a:avLst>
              <a:gd name="adj" fmla="val 7273"/>
            </a:avLst>
          </a:prstGeom>
          <a:solidFill>
            <a:srgbClr val="F4F4F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5468112"/>
            <a:ext cx="777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280160" y="5541264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Grocery Planning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59436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with local grocery price APIs to generate budget-optimized, nutritious shopping lists. Suggest seasonal Indian produce for maximum nutrition value.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009D9A"/>
          </a:solidFill>
          <a:ln/>
        </p:spPr>
      </p:sp>
      <p:sp>
        <p:nvSpPr>
          <p:cNvPr id="27" name="Text 25"/>
          <p:cNvSpPr/>
          <p:nvPr/>
        </p:nvSpPr>
        <p:spPr>
          <a:xfrm>
            <a:off x="182880" y="6510528"/>
            <a:ext cx="1179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1161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 Earned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1005840"/>
            <a:ext cx="10332720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005840"/>
            <a:ext cx="1033272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Add your IBM SkillsBuild / Credly Certificate here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5029200"/>
            <a:ext cx="9418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to: credly.com → Your Badges → Share → Copy Image → Paste here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OR: skillsbuild.org → My Achievements → Screenshot the certificate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6510528"/>
            <a:ext cx="1179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6161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1161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SkillsBuild Certificate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1005840"/>
            <a:ext cx="10332720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005840"/>
            <a:ext cx="1033272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Add your IBM BOB (Build on Base) Certificate here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5029200"/>
            <a:ext cx="9418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from: IBM SkillsBuild Dashboard → My Learning → Completed → Download Certificate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6510528"/>
            <a:ext cx="1179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 Agent  |  IBM watsonx.ai + LangFlow  |  Aman Raj  |  Edunet Foundation × IBM SkillsBuild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29200"/>
            <a:ext cx="12161520" cy="1828800"/>
          </a:xfrm>
          <a:prstGeom prst="rect">
            <a:avLst/>
          </a:prstGeom>
          <a:solidFill>
            <a:srgbClr val="0D53D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Nutrition Agent  |  IBM watsonx.ai + LangFlow + IBM Granite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  |  aramanrajaramanraj@gmail.com  |  github.com/AMANRAJ-Droid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A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AICTE Internship 2025  |  Edunet Foundation × IBM SkillsBuild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2026-07-13T05:19:53Z</dcterms:created>
  <dcterms:modified xsi:type="dcterms:W3CDTF">2026-07-13T05:19:53Z</dcterms:modified>
</cp:coreProperties>
</file>