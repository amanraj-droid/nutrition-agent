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Agent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663440" y="32461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"Exploring the Power of Agentic AI with IBM Granite and LangFlow"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3977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8A83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03720" y="3977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09D9A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3.2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3977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8A3F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4572000"/>
            <a:ext cx="7132320" cy="0"/>
          </a:xfrm>
          <a:prstGeom prst="line">
            <a:avLst/>
          </a:prstGeom>
          <a:noFill/>
          <a:ln w="12700">
            <a:solidFill>
              <a:srgbClr val="3A5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709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Raj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50474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Ramgarh Engineering College, Jharkhand  |  B.Tech CSE (Pre-Final Year)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53218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aramanrajaramanraj@gmail.com  |  +91 9334955453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58978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Internship  |  Edunet Foundation × IBM SkillsBuild  |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0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Nutrition 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5212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Nutrition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5212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Raj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5212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743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aramanrajaramanraj@gmail.com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5212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(WhatsApp):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291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9334955453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5212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840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Ramgarh Engineering College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5212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4389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(Pre-Final Year)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800600"/>
            <a:ext cx="5212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937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4937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github.com/AMANRAJ-Droid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914400"/>
            <a:ext cx="5394960" cy="5120640"/>
          </a:xfrm>
          <a:prstGeom prst="roundRect">
            <a:avLst>
              <a:gd name="adj" fmla="val 1786"/>
            </a:avLst>
          </a:prstGeom>
          <a:solidFill>
            <a:srgbClr val="0F62F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16459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multi-agent AI Nutrition Assistant powered by IBM Granite 3.2 model via IBM watsonx.ai, orchestrated with LangFlow.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personalized diet planning, calorie analysis, BMI calculation, and family nutrition management with deep support for Indian cuisine and food culture.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4343400"/>
            <a:ext cx="4846320" cy="27432"/>
          </a:xfrm>
          <a:prstGeom prst="rect">
            <a:avLst/>
          </a:prstGeom>
          <a:solidFill>
            <a:srgbClr val="3A5E8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4480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Jharkhand, India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AICTE Internship 2025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212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IBM watsonx.ai + Granite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09728" cy="5303520"/>
          </a:xfrm>
          <a:prstGeom prst="rect">
            <a:avLst/>
          </a:prstGeom>
          <a:solidFill>
            <a:srgbClr val="08A83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The Challenge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in India suffer from diet-related illness — diabetes, obesity, malnutrition — yet lack personalized, affordable nutritional guidance. Generic apps ignore Indian regional cuisines, languages, and cultural dietary restrictions entirely.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4747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62F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611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4343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Diabetics in India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diet management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34747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62FE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3611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4343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5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stunted by malnutrition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34747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62F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611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4343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 adults lacking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89720" y="34747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F62FE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3611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1:1.27M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9720" y="4343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 to population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in India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914400"/>
            <a:ext cx="5943600" cy="2377440"/>
          </a:xfrm>
          <a:prstGeom prst="roundRect">
            <a:avLst>
              <a:gd name="adj" fmla="val 3846"/>
            </a:avLst>
          </a:prstGeom>
          <a:solidFill>
            <a:srgbClr val="F0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005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Objective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148132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Personalized diet plans based on health conditions &amp; cultural preferences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82880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calorie analysis and food nutrition data via RAG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17627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Family-level nutrition management for all age groups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523744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Disease-specific guidance: diabetes, thyroid, PCOS, heart health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871216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 support for Indian regional cuisines and dietary traditions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Nutrition System built on LangFlow + IBM watsonx.ai using Granite 3.2 8B Instruct, with RAG-based nutritional data retrieval for accurate, personalized guidance.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08760"/>
            <a:ext cx="2743200" cy="50292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nutritional data from USDA &amp; WHO via RAG 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508760"/>
            <a:ext cx="2743200" cy="502920"/>
          </a:xfrm>
          <a:prstGeom prst="rect">
            <a:avLst/>
          </a:prstGeom>
          <a:solidFill>
            <a:srgbClr val="08A83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personalized weekly meal plans based on health profile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508760"/>
            <a:ext cx="2743200" cy="502920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disease-specific diets for diabetes, thyroid, PCOS, heart health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150876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508760"/>
            <a:ext cx="2743200" cy="502920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Log &amp;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logged meals and delivers instant calorie &amp; nutrition feedback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5166360"/>
            <a:ext cx="11612880" cy="1097280"/>
          </a:xfrm>
          <a:prstGeom prst="roundRect">
            <a:avLst>
              <a:gd name="adj" fmla="val 8333"/>
            </a:avLst>
          </a:prstGeom>
          <a:solidFill>
            <a:srgbClr val="0F62F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285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All agents share a centralized RAG knowledge base powered by IBM watsonx embeddings — ensuring every recommendation is grounded in real, verified nutritional data from USDA, WHO, and Indian food composition tables.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09728" cy="530352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9601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8A3FFC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35608"/>
            <a:ext cx="3657600" cy="54864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LangFlow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v1.3+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multi-agent workflow orchestration platform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9601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9601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0F62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435608"/>
            <a:ext cx="3657600" cy="5486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960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IBM Granite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granite-3-2-8b-instruct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34840" y="19202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LLM for reasoning, personalization &amp; summarization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9601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9601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009D9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1435608"/>
            <a:ext cx="3657600" cy="54864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960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IBM Cloud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us-south region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66760" y="19202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 infrastructure for model deployment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52044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08A836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995928"/>
            <a:ext cx="3657600" cy="54864"/>
          </a:xfrm>
          <a:prstGeom prst="rect">
            <a:avLst/>
          </a:prstGeom>
          <a:solidFill>
            <a:srgbClr val="08A83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RAG 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nutritional data retrieval from knowledge base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352044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0" y="352044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8A3F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0" y="3995928"/>
            <a:ext cx="3657600" cy="54864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IBM watsonx.ai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34840" y="4480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deployment, embeddings &amp; AI governance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352044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352044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B45309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0" y="3995928"/>
            <a:ext cx="365760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Vector Database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66760" y="44805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nutritional embeddings for semantic search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Components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43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3FFC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user queries about nutrition, BMI, diet plans, and family health. Passes user message to the Agent orchestrator.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0058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73368" y="1143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3FFC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1143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IBM watsonx AI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 node powered by IBM Granite 3.2 8B. Orchestrates sub-agents, processes context, and generates personalized nutrition guidance.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" y="2971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3FF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Granite Model Node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granite-3-2-8b-instruct. Configured with temperature 0.7, max 1024 tokens, repetition penalty 1.1 for accurate, non-repetitive responses.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8346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73368" y="2971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3FFC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971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Chat Output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AI-generated responses: diet plans, calorie analysis, meal suggestions, and health recommendations in the chat interface.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4800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3FFC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800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File Component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53035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nutrition datasets (USDA food composition CSV, WHO guidelines PDF, Indian food table) into the RAG knowledge base.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663440"/>
            <a:ext cx="56692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73368" y="4800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3FFC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4800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Prompt (AGENT_INSTRUCTIONS)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53035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prompt containing tone, Indian food preferences, safety rules, disease specializations, and family profile context.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005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3.2 8B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09D9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560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8A3F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8404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Family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8A83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80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System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12064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8A3FF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5120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Knowledge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92608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Nutrition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(Orchestrator)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21945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F62F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194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Knowledge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8A83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246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Diet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42976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09D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1832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8A836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Chat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(NutriBot 🥗)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12848" y="2944368"/>
            <a:ext cx="987552" cy="301752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12848" y="4224528"/>
            <a:ext cx="987552" cy="-612648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2848" y="1664208"/>
            <a:ext cx="987552" cy="1426464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12848" y="5504688"/>
            <a:ext cx="987552" cy="-1938528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3248" y="3364992"/>
            <a:ext cx="987552" cy="-786384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13248" y="3566160"/>
            <a:ext cx="987552" cy="64008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3749040"/>
            <a:ext cx="987552" cy="932688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3200400"/>
            <a:ext cx="1170432" cy="182880"/>
          </a:xfrm>
          <a:prstGeom prst="line">
            <a:avLst/>
          </a:prstGeom>
          <a:noFill/>
          <a:ln w="15240">
            <a:solidFill>
              <a:srgbClr val="444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Import app.json into LangFlow to load this complete flow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858000" cy="1280160"/>
          </a:xfrm>
          <a:prstGeom prst="roundRect">
            <a:avLst>
              <a:gd name="adj" fmla="val 7143"/>
            </a:avLst>
          </a:prstGeom>
          <a:solidFill>
            <a:srgbClr val="009D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Interface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Chat UI  |  Web Browser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6858000" cy="1280160"/>
          </a:xfrm>
          <a:prstGeom prst="roundRect">
            <a:avLst>
              <a:gd name="adj" fmla="val 7143"/>
            </a:avLst>
          </a:prstGeom>
          <a:solidFill>
            <a:srgbClr val="0F62F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Agent Orchestration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Multi-Agent Framework  |  IBM watsonx Agent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77647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6858000" cy="1280160"/>
          </a:xfrm>
          <a:prstGeom prst="roundRect">
            <a:avLst>
              <a:gd name="adj" fmla="val 7143"/>
            </a:avLst>
          </a:prstGeom>
          <a:solidFill>
            <a:srgbClr val="8A3F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05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Model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64515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3.2 8B Instruct  |  IBM watsonx.ai Platform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528523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5440680"/>
            <a:ext cx="6858000" cy="1280160"/>
          </a:xfrm>
          <a:prstGeom prst="roundRect">
            <a:avLst>
              <a:gd name="adj" fmla="val 7143"/>
            </a:avLst>
          </a:prstGeom>
          <a:solidFill>
            <a:srgbClr val="08A83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7784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Data &amp; Knowledge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6247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DB  |  USDA + WHO + Indian Food Tables  |  IBM Cloud Storage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8080" y="1005840"/>
            <a:ext cx="4389120" cy="5394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1645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Security: API keys stored securely in environment variables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80960" y="23042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Scalability: IBM Cloud handles elastic workload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80960" y="29626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Accuracy: RAG ensures real data, not hallucinations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0" y="362102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Localization: Indian food culture built into agent prompt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0" y="427939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Multi-user: Family profile support per session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4937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Speed: Granite 3.2 8B optimized for low-latency inference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80960" y="55961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Modularity: Each agent can be updated independently in LangFlow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Agentic AI in 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enables the Nutrition Agent to function as an autonomous, goal-driven system — not just a chatbot. It autonomously decomposes a user's nutrition query into sub-tasks, delegates them to specialized agents, and synthesizes a coherent, personalized response.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1112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6916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916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61188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breaks down complex queries like "plan a diabetic diet for my 55-year-old father" into nutrition data retrieval, meal planning, and health advisory sub-tasks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11122"/>
          </a:solidFill>
          <a:ln/>
        </p:spPr>
      </p:sp>
      <p:sp>
        <p:nvSpPr>
          <p:cNvPr id="11" name="Shape 9"/>
          <p:cNvSpPr/>
          <p:nvPr/>
        </p:nvSpPr>
        <p:spPr>
          <a:xfrm>
            <a:off x="4069080" y="16916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8A836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16916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28803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61188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user profiles across turns — remembers age, health conditions, and food preferences throughout the conversation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111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16916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09D9A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6916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72200" y="28803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61188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collaborate: Knowledge Agent feeds data to Diet Agent, which the Health Agent cross-checks for disease safety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98280" y="150876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11122"/>
          </a:solidFill>
          <a:ln/>
        </p:spPr>
      </p:sp>
      <p:sp>
        <p:nvSpPr>
          <p:cNvPr id="21" name="Shape 19"/>
          <p:cNvSpPr/>
          <p:nvPr/>
        </p:nvSpPr>
        <p:spPr>
          <a:xfrm>
            <a:off x="9921240" y="16916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8A3FFC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16916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98280" y="28803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361188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updates recommendations as users log new meals, report health changes, or add family members to their profile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598932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IBM Granite 3.2 8B Instruct via IBM watsonx.ai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&amp; Model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3.2 8B Instruct  |  ibm/granite-3-2-8b-instruct  |  IBM watsonx.ai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F62F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11,761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09D9A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887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Output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Call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0515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8A3FFC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1887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7220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10515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08A836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1887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9828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(Creativity)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7132320" cy="3520440"/>
          </a:xfrm>
          <a:prstGeom prst="roundRect">
            <a:avLst>
              <a:gd name="adj" fmla="val 2597"/>
            </a:avLst>
          </a:prstGeom>
          <a:solidFill>
            <a:srgbClr val="11112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1752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Breakdown per Agent Call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493008"/>
            <a:ext cx="7132320" cy="402336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4930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03320" y="34930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4930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349300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913632"/>
            <a:ext cx="7132320" cy="402336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9136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(AGENT_INSTRUCTIONS)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39136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9136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91363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334256"/>
            <a:ext cx="7132320" cy="40233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3342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(avg)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03320" y="43342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43342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33425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754880"/>
            <a:ext cx="7132320" cy="402336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7548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 (Knowledge Base)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03320" y="47548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47548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47548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5175504"/>
            <a:ext cx="7132320" cy="40233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51755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Profile Input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03320" y="51755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4920" y="51755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517550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5596128"/>
            <a:ext cx="7132320" cy="402336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55961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Model Response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03320" y="5596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74920" y="5596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46520" y="55961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6016752"/>
            <a:ext cx="7132320" cy="402336"/>
          </a:xfrm>
          <a:prstGeom prst="rect">
            <a:avLst/>
          </a:prstGeom>
          <a:solidFill>
            <a:srgbClr val="08A836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60167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03320" y="6016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74920" y="6016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60167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2,761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80960" y="2880360"/>
            <a:ext cx="4206240" cy="3520440"/>
          </a:xfrm>
          <a:prstGeom prst="roundRect">
            <a:avLst>
              <a:gd name="adj" fmla="val 2597"/>
            </a:avLst>
          </a:prstGeom>
          <a:solidFill>
            <a:srgbClr val="111122"/>
          </a:solidFill>
          <a:ln/>
        </p:spPr>
      </p:sp>
      <p:sp>
        <p:nvSpPr>
          <p:cNvPr id="55" name="Text 53"/>
          <p:cNvSpPr/>
          <p:nvPr/>
        </p:nvSpPr>
        <p:spPr>
          <a:xfrm>
            <a:off x="786384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81812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692640" y="3547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ibm/granite-3-2-8b-instruct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818120" y="3895344"/>
            <a:ext cx="3840480" cy="0"/>
          </a:xfrm>
          <a:prstGeom prst="line">
            <a:avLst/>
          </a:prstGeom>
          <a:noFill/>
          <a:ln w="6350">
            <a:solidFill>
              <a:srgbClr val="2222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1812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69264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818120" y="4279392"/>
            <a:ext cx="3840480" cy="0"/>
          </a:xfrm>
          <a:prstGeom prst="line">
            <a:avLst/>
          </a:prstGeom>
          <a:noFill/>
          <a:ln w="6350">
            <a:solidFill>
              <a:srgbClr val="2222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18120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69264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us-south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818120" y="4663440"/>
            <a:ext cx="3840480" cy="0"/>
          </a:xfrm>
          <a:prstGeom prst="line">
            <a:avLst/>
          </a:prstGeom>
          <a:noFill/>
          <a:ln w="6350">
            <a:solidFill>
              <a:srgbClr val="2222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18120" y="47000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New Tokens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692640" y="47000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818120" y="5047488"/>
            <a:ext cx="3840480" cy="0"/>
          </a:xfrm>
          <a:prstGeom prst="line">
            <a:avLst/>
          </a:prstGeom>
          <a:noFill/>
          <a:ln w="6350">
            <a:solidFill>
              <a:srgbClr val="2222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18120" y="5084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692640" y="5084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818120" y="5431536"/>
            <a:ext cx="3840480" cy="0"/>
          </a:xfrm>
          <a:prstGeom prst="line">
            <a:avLst/>
          </a:prstGeom>
          <a:noFill/>
          <a:ln w="6350">
            <a:solidFill>
              <a:srgbClr val="2222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18120" y="5468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692640" y="5468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818120" y="5815584"/>
            <a:ext cx="3840480" cy="0"/>
          </a:xfrm>
          <a:prstGeom prst="line">
            <a:avLst/>
          </a:prstGeom>
          <a:noFill/>
          <a:ln w="6350">
            <a:solidFill>
              <a:srgbClr val="2222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18120" y="5852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Penalty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692640" y="5852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818120" y="6199632"/>
            <a:ext cx="3840480" cy="0"/>
          </a:xfrm>
          <a:prstGeom prst="line">
            <a:avLst/>
          </a:prstGeom>
          <a:noFill/>
          <a:ln w="6350">
            <a:solidFill>
              <a:srgbClr val="2222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18120" y="62362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692640" y="6236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/ Sampling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sessions accumulate tokens — 4 agents × avg 2,761 tokens/call = ~11,044 tokens per full session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8A83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Uniqueness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760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188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specialized agents collaborate — rather than one monolithic chatbot — for accurate, context-aware guidance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1005840"/>
            <a:ext cx="5760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1887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09D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1188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1645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nutritional data from USDA and WHO is retrieved first, then generation happens — minimizing hallucinations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5760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017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8A83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017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Food Specialization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474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support for 50+ regional Indian cuisines, religious dietary restrictions, and traditional Indian superfoods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2834640"/>
            <a:ext cx="5760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017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8A3F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3017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Profile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3474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session supports multiple family members, each with individual health conditions and nutritional targets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5760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8463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8A3FF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846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AGENT_INSTRUCTIONS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5303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 change tone, diet specialization, safety rules, and cultural preferences without touching LangFlow nodes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4663440"/>
            <a:ext cx="5760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48463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9D57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9480" y="4846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Healthcare Focus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5303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meal planning to provide evidence-based dietary guidance for chronic disease management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8A836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10332720" cy="1280160"/>
          </a:xfrm>
          <a:prstGeom prst="roundRect">
            <a:avLst>
              <a:gd name="adj" fmla="val 8571"/>
            </a:avLst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github.com/AMANRAJ-Droid/nutrition-agent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10332720" cy="3108960"/>
          </a:xfrm>
          <a:prstGeom prst="roundRect">
            <a:avLst>
              <a:gd name="adj" fmla="val 3529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8892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Contents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33375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8A83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333756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app.json  —  LangFlow exported flow — import this directly into LangFlow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38862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09D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88620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NutritionAgent_ProblemStatement.pdf  —  Complete problem statement document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88720" y="44348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8A3FFC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443484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NutritionAgent_Presentation.pptx  —  This submission presentation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88720" y="49834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62FE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4983480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—  Setup instructions, tech stack, and project overview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 ✓  |  README enabled  ✓  |  All 4 required files uploaded  ✓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09728" cy="5303520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115214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4813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smartwatches and fitness trackers to collect real-time activity data. Enable the agent to automatically adjust calorie targets based on steps, heart rate, and sleep patterns.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11521440" cy="1005840"/>
          </a:xfrm>
          <a:prstGeom prst="roundRect">
            <a:avLst>
              <a:gd name="adj" fmla="val 7273"/>
            </a:avLst>
          </a:prstGeom>
          <a:solidFill>
            <a:srgbClr val="E8F8F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21408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&amp; Multilingual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5968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input in 10+ Indian languages (Hindi, Tamil, Telugu, Bengali, Marathi). Users can speak naturally to get nutrition guidance in their mother tongue.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115214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36976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3310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Meal Logging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7124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your thali and get instant calorie counts. Computer vision model identifies Indian dishes and calculates nutritional values from the image automatically.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352544"/>
            <a:ext cx="11521440" cy="1005840"/>
          </a:xfrm>
          <a:prstGeom prst="roundRect">
            <a:avLst>
              <a:gd name="adj" fmla="val 7273"/>
            </a:avLst>
          </a:prstGeom>
          <a:solidFill>
            <a:srgbClr val="E8F8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52544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442569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EHR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8280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AI-generated diet plans directly with doctors and registered dietitians through HL7 FHIR integration with hospital Electronic Health Record systems.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5468112"/>
            <a:ext cx="115214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468112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554126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Grocery Planning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943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local grocery price APIs to generate budget-optimized, nutritious shopping lists. Suggest seasonal Indian produce for maximum nutrition value.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6510528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 Agent  |  IBM watsonx.ai + LangFlow  |  Aman Raj  |  Edunet Foundation × IBM SkillsBuild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0D53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Nutrition Agent  |  IBM watsonx.ai + LangFlow + IBM Granite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Raj  |  aramanrajaramanraj@gmail.com  |  github.com/AMANRAJ-Droid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Internship 2025  |  Edunet Foundation × IBM SkillsBuild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2026-07-13T05:32:54Z</dcterms:created>
  <dcterms:modified xsi:type="dcterms:W3CDTF">2026-07-13T05:32:54Z</dcterms:modified>
</cp:coreProperties>
</file>